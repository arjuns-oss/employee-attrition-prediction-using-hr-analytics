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Attrition Rate by Department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Human Resources</c:v>
                  </c:pt>
                  <c:pt idx="1">
                    <c:v>Research &amp; Dev</c:v>
                  </c:pt>
                  <c:pt idx="2">
                    <c:v>Sales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29.79</c:v>
                </c:pt>
                <c:pt idx="1">
                  <c:v>15.83</c:v>
                </c:pt>
                <c:pt idx="2">
                  <c:v>15.06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Attrition Rate by Business Travel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Non-Travel</c:v>
                  </c:pt>
                  <c:pt idx="1">
                    <c:v>Travel Rarely</c:v>
                  </c:pt>
                  <c:pt idx="2">
                    <c:v>Travel Frequently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8.14</c:v>
                </c:pt>
                <c:pt idx="1">
                  <c:v>15.08</c:v>
                </c:pt>
                <c:pt idx="2">
                  <c:v>24.79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Attrition Rate by Age Group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18–25</c:v>
                  </c:pt>
                  <c:pt idx="1">
                    <c:v>26–35</c:v>
                  </c:pt>
                  <c:pt idx="2">
                    <c:v>36–45</c:v>
                  </c:pt>
                  <c:pt idx="3">
                    <c:v>46–60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34.8</c:v>
                </c:pt>
                <c:pt idx="1">
                  <c:v>19</c:v>
                </c:pt>
                <c:pt idx="2">
                  <c:v>9.4</c:v>
                </c:pt>
                <c:pt idx="3">
                  <c:v>12.66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Attrition Rate by Marital Status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bubble3D val="0"/>
            <c:spPr>
              <a:solidFill>
                <a:srgbClr val="22D3E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Single (25.5%)</c:v>
                </c:pt>
                <c:pt idx="1">
                  <c:v>Married (12.7%)</c:v>
                </c:pt>
                <c:pt idx="2">
                  <c:v>Divorced (9.9%)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25.52</c:v>
                </c:pt>
                <c:pt idx="1">
                  <c:v>12.72</c:v>
                </c:pt>
                <c:pt idx="2">
                  <c:v>9.91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Job Satisfaction of Attrited Employees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High</c:v>
                  </c:pt>
                  <c:pt idx="1">
                    <c:v>Low</c:v>
                  </c:pt>
                  <c:pt idx="2">
                    <c:v>Very High</c:v>
                  </c:pt>
                  <c:pt idx="3">
                    <c:v>Medium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216</c:v>
                </c:pt>
                <c:pt idx="1">
                  <c:v>195</c:v>
                </c:pt>
                <c:pt idx="2">
                  <c:v>153</c:v>
                </c:pt>
                <c:pt idx="3">
                  <c:v>137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Work-Life Balance of Attrited Employees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22D3EE"/>
              </a:solidFill>
              <a:effectLst/>
            </c:spPr>
          </c:dPt>
          <c:dPt>
            <c:idx val="3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Better (54%)</c:v>
                </c:pt>
                <c:pt idx="1">
                  <c:v>Good (24%)</c:v>
                </c:pt>
                <c:pt idx="2">
                  <c:v>Best (12%)</c:v>
                </c:pt>
                <c:pt idx="3">
                  <c:v>Bad (11%)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379</c:v>
                </c:pt>
                <c:pt idx="1">
                  <c:v>167</c:v>
                </c:pt>
                <c:pt idx="2">
                  <c:v>81</c:v>
                </c:pt>
                <c:pt idx="3">
                  <c:v>74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Average Monthly Income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Income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Retained</c:v>
                  </c:pt>
                  <c:pt idx="1">
                    <c:v>Attrited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65725</c:v>
                </c:pt>
                <c:pt idx="1">
                  <c:v>61432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Retained vs. Attrited: Age &amp; Tenure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Retained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Avg Age</c:v>
                  </c:pt>
                  <c:pt idx="1">
                    <c:v>Yrs at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37.5</c:v>
                </c:pt>
                <c:pt idx="1">
                  <c:v>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Attrited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Avg Age</c:v>
                  </c:pt>
                  <c:pt idx="1">
                    <c:v>Yrs at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33.7</c:v>
                </c:pt>
                <c:pt idx="1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Manufacturing Director</c:v>
                  </c:pt>
                  <c:pt idx="1">
                    <c:v>Manager</c:v>
                  </c:pt>
                  <c:pt idx="2">
                    <c:v>Human Resources</c:v>
                  </c:pt>
                  <c:pt idx="3">
                    <c:v>Healthcare Rep</c:v>
                  </c:pt>
                  <c:pt idx="4">
                    <c:v>Sales Representative</c:v>
                  </c:pt>
                  <c:pt idx="5">
                    <c:v>Laboratory Technician</c:v>
                  </c:pt>
                  <c:pt idx="6">
                    <c:v>Sales Executive</c:v>
                  </c:pt>
                  <c:pt idx="7">
                    <c:v>Research Scientist</c:v>
                  </c:pt>
                  <c:pt idx="8">
                    <c:v>Research Director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11.21</c:v>
                </c:pt>
                <c:pt idx="1">
                  <c:v>13</c:v>
                </c:pt>
                <c:pt idx="2">
                  <c:v>13.64</c:v>
                </c:pt>
                <c:pt idx="3">
                  <c:v>14.7</c:v>
                </c:pt>
                <c:pt idx="4">
                  <c:v>14.75</c:v>
                </c:pt>
                <c:pt idx="5">
                  <c:v>16.18</c:v>
                </c:pt>
                <c:pt idx="6">
                  <c:v>16.89</c:v>
                </c:pt>
                <c:pt idx="7">
                  <c:v>18.42</c:v>
                </c:pt>
                <c:pt idx="8">
                  <c:v>23.95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0E7490">
              <a:alpha val="25000"/>
            </a:srgbClr>
          </a:solidFill>
          <a:ln w="12700">
            <a:solidFill>
              <a:srgbClr val="0E749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2834640"/>
            <a:ext cx="2011680" cy="201168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Attrition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Using HR Analytics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5029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Understanding &amp; Reducing Workforce Turnover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5303520" cy="1371600"/>
          </a:xfrm>
          <a:prstGeom prst="rect">
            <a:avLst/>
          </a:prstGeom>
          <a:solidFill>
            <a:srgbClr val="0E203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Gayathri P 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Sreehari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31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94A3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393192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Employee Attrition?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refers to the gradual reduction of a company's workforce through resignations, retirements, or other departures.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one of the most significant challenges HR departments face worldwide.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attrition leads to: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recruitment &amp; training costs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institutional knowledge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team productivity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employee morale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94A3B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05840"/>
            <a:ext cx="4160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0" y="1609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HR data to identify key attrition drivers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176272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2185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trends across demographics, departments, and satisfaction scores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752344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employee segments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328416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insights to reduce turnover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3904488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3913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foundation for predictive attrition modeling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65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4,327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960120"/>
            <a:ext cx="19659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960120"/>
            <a:ext cx="19659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51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Employees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659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6012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51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960120"/>
            <a:ext cx="19659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960120"/>
            <a:ext cx="19659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0515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03136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Analyzed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46888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044952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971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HR_Analytics_Cleaned_Master.csv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1729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consolidated dataset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56432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832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general_data.csv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35844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demographics &amp; work info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867912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94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employee_survey_data.csv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9959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&amp; engagement scores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279392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206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manager_survey_data.csv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4074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involvement ratings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2468880"/>
            <a:ext cx="4251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2578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 Categories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09160" y="2944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08192" y="29443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Marital Status, Education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3310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Profile: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08192" y="3310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Job Role, Job Level, Business Travel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3675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08192" y="36758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Income, Salary Hike, Stock Options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9160" y="4041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08192" y="4041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Job, Environment, Work-Life Balance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9160" y="4407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08192" y="44074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at Company, Since Last Promotion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Attrition by Department &amp; Business Travel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297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91440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2793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Insight: HR department has nearly 2× the attrition rate (29.8%) of other departments. Frequent travelers show a 3× higher attrition rate compared to non-travelers (24.8% vs 8.1%).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Attrition by Demographics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914400"/>
          <a:ext cx="42976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069080"/>
            <a:ext cx="859536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09651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Insights: Young employees aged 18–25 have the highest attrition at 34.8% — nearly 4× more than the 36–45 age group. Single employees leave at twice the rate of divorced employees (25.5% vs 9.9%), suggesting life-stage is a critical factor.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Satisfaction &amp; Work-Life Balance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91440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94760"/>
            <a:ext cx="8595360" cy="10515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822192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Insights: 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Interestingly, even employees with 'High' job satisfaction leave — indicating satisfaction alone doesn't prevent attrition. Majority of attrited employees (54%) reported 'Better' work-life balance, suggesting that work-life balance is not the primary driver. Low environment satisfaction was the top concern among employees who left.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&amp; Experience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91440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94760"/>
            <a:ext cx="8595360" cy="10515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822192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Insights: Attrited employees earn on average ₹4,293 less per month than retained employees. They are also ~3.8 years younger and have 2.3 fewer years at the company. Younger, less tenured, lower-income employees are at significantly higher risk of leaving.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Attrition by Job Role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85953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170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4 datasets covering demographics, survey responses, and performance metrics of 4,327 employees.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00584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05840"/>
            <a:ext cx="27889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1430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13048" y="1170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missing values, encoded categorical variables, and merged datasets using Employee ID as key.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00584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005840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0216" y="11430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57416" y="1170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0216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statistical analysis and visualizations to uncover patterns in attrition across segments.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69748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97480"/>
            <a:ext cx="278892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83464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2862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291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labeled versions of ordinal features (Job Satisfaction, Work-Life Balance, etc.) for analysis.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18688" y="269748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2697480"/>
            <a:ext cx="278892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283464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13048" y="2862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Driver Identification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55848" y="3291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top attrition drivers: age, department, travel frequency, marital status, and income.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63056" y="269748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2697480"/>
            <a:ext cx="27889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0216" y="283464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216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57416" y="2862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0216" y="3291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insights into actionable HR strategies to reduce attrition in high-risk segments.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High-Risk Demographics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36245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aged 18–25 and single employees show the highest attrition rates (34.8% and 25.5% respectively).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49240" y="1051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 Disparity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36245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department faces a 29.8% attrition rate — nearly double that of Sales (15.1%) and R&amp;D (15.8%).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8833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travelers are 3× more likely to leave than non-travelers (24.8% vs 8.1%).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Gap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68833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employees earn ₹4,293 less on average monthly, suggesting compensation is a contributing factor.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Vulnerability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01421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Directors (23.9%) and Research Scientists (18.4%) have the highest role-specific attrition.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4924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Tenure Effect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401421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employees have 2.3 fewer years at the company, indicating early years are a critical retention window.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9144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Young Talent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6245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structured mentoring and career development programs for employees aged 18–25 to build engagement early.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914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36245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regular salary benchmarking and close income gaps particularly in HR and Research roles.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914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77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 Policy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68833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travel allowances, rotation policies, and remote work options to reduce burnout for frequent travelers.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86000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77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Department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68833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HR staff wellbeing and succession planning; run targeted retention programs in the HR function.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91440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033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Tenure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1421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strong onboarding and 1-year check-in programs to retain employees in the first 2–3 years.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11880"/>
            <a:ext cx="91440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033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01421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workplace environment satisfaction through regular feedback, team-building, and facility upgrades.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E7490">
              <a:alpha val="20000"/>
            </a:srgbClr>
          </a:solidFill>
          <a:ln w="12700">
            <a:solidFill>
              <a:srgbClr val="0E74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560320" cy="256032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4572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of 4,327 employee records reveals that attrition is driven by a complex interplay of demographic, financial, and organizational factors — not any single cause.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07568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Young, single employees represent the highest-risk attrition segment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5786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department requires urgent, targeted retention intervention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0815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business travel is a major and controllable attrition driver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58444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gaps and limited tenure are reliable early-warning indicators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114800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08736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HR strategies can meaningfully reduce turnover rates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617720"/>
            <a:ext cx="5943600" cy="320040"/>
          </a:xfrm>
          <a:prstGeom prst="rect">
            <a:avLst/>
          </a:prstGeom>
          <a:solidFill>
            <a:srgbClr val="0E203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17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Arjun S  |  Gayathri P S  |  Sreehari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Prediction Using HR Analytics</dc:title>
  <dc:subject>PptxGenJS Presentation</dc:subject>
  <dc:creator>PptxGenJS</dc:creator>
  <cp:lastModifiedBy>PptxGenJS</cp:lastModifiedBy>
  <cp:revision>1</cp:revision>
  <dcterms:created xsi:type="dcterms:W3CDTF">2026-05-15T10:13:37Z</dcterms:created>
  <dcterms:modified xsi:type="dcterms:W3CDTF">2026-05-15T10:13:37Z</dcterms:modified>
</cp:coreProperties>
</file>